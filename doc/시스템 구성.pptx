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8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54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D25526-F4E9-49E0-8D1A-E7CE3E2E6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0DA17D-FF17-9646-A818-00C063ED4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32B01C-D06E-FF54-F881-9BC77812F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2DEA9-001B-4F01-B1D7-E02B4B5B91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844633-CC85-3085-0CFE-B2383E543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735574-D21D-8487-8114-53D062904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972B-BE70-46BA-9812-E8E012EAAC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647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7690DC-2D9E-8846-34E7-DD13E7DE7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DBE001-423E-1932-35A7-2E3B4163F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BCBAAB-74C3-0D44-65B8-6DC77F434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2DEA9-001B-4F01-B1D7-E02B4B5B91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3DD4F6-30F3-1E9F-5A2C-69802ECD3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89FFD0-5991-9BA4-279F-D0CC6DEC4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972B-BE70-46BA-9812-E8E012EAAC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042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53677-790C-7B28-76AA-B93EDDF53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ED040A-6854-1BE8-989A-9BE35764A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5D3A21-C6E3-1B22-2217-047EF4A7A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2DEA9-001B-4F01-B1D7-E02B4B5B91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5FAD12-7BAB-D9B3-7B20-27E32CD58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A12FBC-8CA5-9508-FBC0-8443B7FCF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972B-BE70-46BA-9812-E8E012EAAC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084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D63A08-CC2F-54F2-9CCE-36658494D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B477DE-6253-5D4B-98FA-8F5700C00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043F49-A663-F028-EABC-0A87ECFC6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5FCA86-6E80-A116-593F-20B406DE2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2DEA9-001B-4F01-B1D7-E02B4B5B91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35879E-6E33-ACC3-6196-2C384BE71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15FACB-CCCD-3A15-7B6B-6578BB184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972B-BE70-46BA-9812-E8E012EAAC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652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94C831-CB80-C0BE-E23C-99A5BBDEA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5EF95B-F511-412E-2BB0-8E3718A4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5E8F2F-79EC-E7AC-C184-717D54DD8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F65056-8C5B-99B8-A087-3F6F28EC04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4DB87E-7854-45FD-FBF6-FDC3EDBF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F55627-AA69-8C3E-3345-E3ABD0CDC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2DEA9-001B-4F01-B1D7-E02B4B5B91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08293A3-1932-E32B-BB62-4B9CC84D5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B895897-790E-ACA8-E154-FFDC62CE4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972B-BE70-46BA-9812-E8E012EAAC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935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05DBAD-588E-A306-3436-98BB529B7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E4235AA-9C6A-14EA-6FE5-D183D9803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2DEA9-001B-4F01-B1D7-E02B4B5B91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4A1B56-B655-C316-B7AB-CDD4AB072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1C6177-A626-2FBF-B6C3-61BB16FC8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972B-BE70-46BA-9812-E8E012EAAC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858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D1CF0F4-FF01-E135-B3B8-BE586E342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2DEA9-001B-4F01-B1D7-E02B4B5B91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4B29C54-592F-0E55-7C3C-5F7FB5305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B12716-5B64-DB28-82BF-D526E3E2D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972B-BE70-46BA-9812-E8E012EAAC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607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6A261E-B3A6-4561-1556-F6ADF8AF1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0981D1-C830-4AD5-2B64-112789EC6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67EE2A-0581-3747-2BF0-1568BB831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018F90-FEEB-66FC-5194-AC83B8B0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2DEA9-001B-4F01-B1D7-E02B4B5B91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435025-B086-83F1-2B1F-0681B07DE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D0F935-34A0-F6C1-8741-D8A279AC1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972B-BE70-46BA-9812-E8E012EAAC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865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A8947-2818-AEC5-8B11-AD3A5F9E9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DC6DABC-298B-B721-DB7B-9ABDE1B3C1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8EDB2A-C716-A9BD-1BD3-19861DF07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23148F-D7C0-DE84-D9FA-AD4A15BC0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2DEA9-001B-4F01-B1D7-E02B4B5B91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0D243C-E9DC-0585-D6BE-47541211F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BC3591-7E1E-7DA0-04E8-B67EEDC5A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972B-BE70-46BA-9812-E8E012EAAC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023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ACB6C-50DE-D0D2-AF9A-F91F58762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117C90-0AFF-B8F2-0AF1-F529A17D2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CCBFD1-E206-DFE9-6956-A4F0C46BB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2DEA9-001B-4F01-B1D7-E02B4B5B91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A98C72-E8A2-07B1-ED1B-9CD959AA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493914-4E9B-CD4A-0B3D-0CD277899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972B-BE70-46BA-9812-E8E012EAAC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811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D26009-BE00-C42D-96F0-70090510BA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EA6055-4E5D-F831-33D0-8BA886E4B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AB461A-1A6D-394C-FFA5-3A6D72B3B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2DEA9-001B-4F01-B1D7-E02B4B5B91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824E9-91D1-C53C-A2C2-F95E560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6611E5-AC59-020A-29A1-BADC2355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B972B-BE70-46BA-9812-E8E012EAAC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639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80D5A7B-7D36-DB53-1275-1412DEB8C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E2B6F7-2611-7CC3-4709-F37809117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F50750-57C2-49E4-B78E-B78B0424E9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12DEA9-001B-4F01-B1D7-E02B4B5B9186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2D3FCA-9009-6E55-31BC-9659A45CCA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A070E5-0378-F606-F7B5-91861E151B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3B972B-BE70-46BA-9812-E8E012EAAC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332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 descr="컴퓨터 윤곽선">
            <a:extLst>
              <a:ext uri="{FF2B5EF4-FFF2-40B4-BE49-F238E27FC236}">
                <a16:creationId xmlns:a16="http://schemas.microsoft.com/office/drawing/2014/main" id="{0ABB4220-44D8-00F7-A598-8804AEC1A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3353" y="731373"/>
            <a:ext cx="914400" cy="9144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B67FA4C-2766-47A1-6D88-056294DF9639}"/>
              </a:ext>
            </a:extLst>
          </p:cNvPr>
          <p:cNvSpPr/>
          <p:nvPr/>
        </p:nvSpPr>
        <p:spPr>
          <a:xfrm>
            <a:off x="4114928" y="1531473"/>
            <a:ext cx="1111250" cy="22860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User</a:t>
            </a:r>
            <a:endParaRPr lang="ko-KR" altLang="en-US" sz="1600" dirty="0"/>
          </a:p>
        </p:txBody>
      </p:sp>
      <p:pic>
        <p:nvPicPr>
          <p:cNvPr id="7" name="그래픽 6" descr="컴퓨터 윤곽선">
            <a:extLst>
              <a:ext uri="{FF2B5EF4-FFF2-40B4-BE49-F238E27FC236}">
                <a16:creationId xmlns:a16="http://schemas.microsoft.com/office/drawing/2014/main" id="{F210C7F4-10B5-8A3F-AADE-BEDED3378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97828" y="731373"/>
            <a:ext cx="914400" cy="9144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04BDFE1-0224-5C5D-16E3-54A60CB4B25D}"/>
              </a:ext>
            </a:extLst>
          </p:cNvPr>
          <p:cNvSpPr/>
          <p:nvPr/>
        </p:nvSpPr>
        <p:spPr>
          <a:xfrm>
            <a:off x="6899403" y="1531473"/>
            <a:ext cx="1111250" cy="22860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Master</a:t>
            </a:r>
            <a:endParaRPr lang="ko-KR" altLang="en-US" sz="1600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7F2F66AA-3A8B-E689-1BE1-6B7FC981E003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127753" y="1188573"/>
            <a:ext cx="187007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F2F455-D290-A6ED-FB49-AF64BE5481E3}"/>
              </a:ext>
            </a:extLst>
          </p:cNvPr>
          <p:cNvSpPr/>
          <p:nvPr/>
        </p:nvSpPr>
        <p:spPr>
          <a:xfrm>
            <a:off x="5463598" y="900771"/>
            <a:ext cx="1111250" cy="228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0070C0"/>
                </a:solidFill>
              </a:rPr>
              <a:t>REST</a:t>
            </a:r>
            <a:r>
              <a:rPr lang="ko-KR" altLang="en-US" sz="1600" dirty="0">
                <a:solidFill>
                  <a:srgbClr val="0070C0"/>
                </a:solidFill>
              </a:rPr>
              <a:t> </a:t>
            </a:r>
            <a:r>
              <a:rPr lang="en-US" altLang="ko-KR" sz="1600" dirty="0">
                <a:solidFill>
                  <a:srgbClr val="0070C0"/>
                </a:solidFill>
              </a:rPr>
              <a:t>API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  <p:pic>
        <p:nvPicPr>
          <p:cNvPr id="9" name="그래픽 8" descr="컴퓨터 윤곽선">
            <a:extLst>
              <a:ext uri="{FF2B5EF4-FFF2-40B4-BE49-F238E27FC236}">
                <a16:creationId xmlns:a16="http://schemas.microsoft.com/office/drawing/2014/main" id="{C493BE23-A109-8B27-ACEE-51FBD7D94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9503" y="731373"/>
            <a:ext cx="914400" cy="9144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EC2CE8A-BD1B-29FA-DE7F-3253CA4F9634}"/>
              </a:ext>
            </a:extLst>
          </p:cNvPr>
          <p:cNvSpPr/>
          <p:nvPr/>
        </p:nvSpPr>
        <p:spPr>
          <a:xfrm>
            <a:off x="10141078" y="1531473"/>
            <a:ext cx="1111250" cy="22860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Slave #1</a:t>
            </a:r>
            <a:endParaRPr lang="ko-KR" altLang="en-US" sz="1600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60BDC09-C500-55B5-2F81-3ECD96A06BD5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7912228" y="1188573"/>
            <a:ext cx="232727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그래픽 16" descr="컴퓨터 윤곽선">
            <a:extLst>
              <a:ext uri="{FF2B5EF4-FFF2-40B4-BE49-F238E27FC236}">
                <a16:creationId xmlns:a16="http://schemas.microsoft.com/office/drawing/2014/main" id="{4CA69AE6-FA0A-3AF1-D9AC-A64E15015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7928" y="3616342"/>
            <a:ext cx="914400" cy="91440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849C7D87-37A7-8841-A91B-8333C720A39B}"/>
              </a:ext>
            </a:extLst>
          </p:cNvPr>
          <p:cNvSpPr/>
          <p:nvPr/>
        </p:nvSpPr>
        <p:spPr>
          <a:xfrm>
            <a:off x="10239503" y="4416442"/>
            <a:ext cx="1111250" cy="22860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Slave #N</a:t>
            </a:r>
            <a:endParaRPr lang="ko-KR" altLang="en-US" sz="1600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D650F70-4120-FD4A-5CD0-C828823C4C2F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7939216" y="1188573"/>
            <a:ext cx="2398712" cy="28849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E52BF62-30EB-4686-4A16-D62BC4870849}"/>
                  </a:ext>
                </a:extLst>
              </p:cNvPr>
              <p:cNvSpPr txBox="1"/>
              <p:nvPr/>
            </p:nvSpPr>
            <p:spPr>
              <a:xfrm>
                <a:off x="10593630" y="3185395"/>
                <a:ext cx="30457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60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ko-KR" altLang="en-US" sz="36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E52BF62-30EB-4686-4A16-D62BC4870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3630" y="3185395"/>
                <a:ext cx="304571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직사각형 22">
            <a:extLst>
              <a:ext uri="{FF2B5EF4-FFF2-40B4-BE49-F238E27FC236}">
                <a16:creationId xmlns:a16="http://schemas.microsoft.com/office/drawing/2014/main" id="{D2E8E6D2-6177-6E9F-9246-FD50F6A35575}"/>
              </a:ext>
            </a:extLst>
          </p:cNvPr>
          <p:cNvSpPr/>
          <p:nvPr/>
        </p:nvSpPr>
        <p:spPr>
          <a:xfrm>
            <a:off x="6137736" y="190392"/>
            <a:ext cx="2631414" cy="835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err="1"/>
              <a:t>LauncherService</a:t>
            </a:r>
            <a:r>
              <a:rPr lang="en-US" altLang="ko-KR" sz="1600" dirty="0"/>
              <a:t>: 8090</a:t>
            </a:r>
          </a:p>
          <a:p>
            <a:pPr algn="ctr"/>
            <a:r>
              <a:rPr lang="en-US" altLang="ko-KR" sz="1600" dirty="0" err="1"/>
              <a:t>MasterApp</a:t>
            </a:r>
            <a:r>
              <a:rPr lang="en-US" altLang="ko-KR" sz="1600" dirty="0"/>
              <a:t>: 8080/8081</a:t>
            </a:r>
            <a:endParaRPr lang="ko-KR" altLang="en-US" sz="16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C5FBAC7-C77C-D309-4964-6EC5F2A0E454}"/>
              </a:ext>
            </a:extLst>
          </p:cNvPr>
          <p:cNvSpPr/>
          <p:nvPr/>
        </p:nvSpPr>
        <p:spPr>
          <a:xfrm>
            <a:off x="9410739" y="157606"/>
            <a:ext cx="2631414" cy="835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err="1"/>
              <a:t>SlaveAgent</a:t>
            </a:r>
            <a:r>
              <a:rPr lang="en-US" altLang="ko-KR" sz="1600" dirty="0"/>
              <a:t>: 8092</a:t>
            </a:r>
          </a:p>
          <a:p>
            <a:pPr algn="ctr"/>
            <a:r>
              <a:rPr lang="en-US" altLang="ko-KR" sz="1600" dirty="0" err="1"/>
              <a:t>SlaveApp</a:t>
            </a:r>
            <a:r>
              <a:rPr lang="en-US" altLang="ko-KR" sz="1600" dirty="0"/>
              <a:t> (worker)</a:t>
            </a:r>
            <a:endParaRPr lang="ko-KR" altLang="en-US" sz="160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0752867-8383-CA80-FFD2-0424D3478C97}"/>
              </a:ext>
            </a:extLst>
          </p:cNvPr>
          <p:cNvSpPr/>
          <p:nvPr/>
        </p:nvSpPr>
        <p:spPr>
          <a:xfrm>
            <a:off x="8617080" y="872887"/>
            <a:ext cx="1111250" cy="228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0070C0"/>
                </a:solidFill>
              </a:rPr>
              <a:t>TCP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F88E42-7307-E309-BDBB-EA29887C9B9F}"/>
              </a:ext>
            </a:extLst>
          </p:cNvPr>
          <p:cNvSpPr txBox="1"/>
          <p:nvPr/>
        </p:nvSpPr>
        <p:spPr>
          <a:xfrm>
            <a:off x="6019223" y="1902778"/>
            <a:ext cx="2800173" cy="738664"/>
          </a:xfrm>
          <a:prstGeom prst="rect">
            <a:avLst/>
          </a:prstGeom>
          <a:noFill/>
          <a:ln w="15875">
            <a:solidFill>
              <a:srgbClr val="0070C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ko-KR" sz="1400" b="1" i="1" dirty="0"/>
              <a:t>1. </a:t>
            </a:r>
            <a:r>
              <a:rPr lang="en-US" altLang="ko-KR" sz="1400" b="1" i="1" dirty="0" err="1"/>
              <a:t>LauncherService</a:t>
            </a:r>
            <a:r>
              <a:rPr lang="en-US" altLang="ko-KR" sz="1400" b="1" i="1" dirty="0"/>
              <a:t> </a:t>
            </a:r>
            <a:r>
              <a:rPr lang="ko-KR" altLang="en-US" sz="1400" b="1" i="1" dirty="0"/>
              <a:t>실행</a:t>
            </a:r>
            <a:r>
              <a:rPr lang="ko-KR" altLang="en-US" sz="1400" b="1" dirty="0"/>
              <a:t> </a:t>
            </a:r>
            <a:endParaRPr lang="en-US" altLang="ko-KR" sz="1400" b="1" dirty="0"/>
          </a:p>
          <a:p>
            <a:r>
              <a:rPr lang="en-US" altLang="ko-KR" sz="1400" dirty="0"/>
              <a:t>LauncherService.exe --config </a:t>
            </a:r>
            <a:r>
              <a:rPr lang="en-US" altLang="ko-KR" sz="1400" dirty="0" err="1"/>
              <a:t>launcher_config.json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44695C-992B-FBD6-08CF-C7E813544EF6}"/>
              </a:ext>
            </a:extLst>
          </p:cNvPr>
          <p:cNvSpPr txBox="1"/>
          <p:nvPr/>
        </p:nvSpPr>
        <p:spPr>
          <a:xfrm>
            <a:off x="9410739" y="1887929"/>
            <a:ext cx="2800173" cy="523220"/>
          </a:xfrm>
          <a:prstGeom prst="rect">
            <a:avLst/>
          </a:prstGeom>
          <a:noFill/>
          <a:ln w="15875">
            <a:solidFill>
              <a:srgbClr val="0070C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ko-KR" sz="1400" b="1" i="1" dirty="0"/>
              <a:t>2. </a:t>
            </a:r>
            <a:r>
              <a:rPr lang="en-US" altLang="ko-KR" sz="1400" b="1" i="1" dirty="0" err="1"/>
              <a:t>SlaveAgent</a:t>
            </a:r>
            <a:r>
              <a:rPr lang="en-US" altLang="ko-KR" sz="1400" b="1" i="1" dirty="0"/>
              <a:t> </a:t>
            </a:r>
            <a:r>
              <a:rPr lang="ko-KR" altLang="en-US" sz="1400" b="1" i="1" dirty="0"/>
              <a:t>실행</a:t>
            </a:r>
            <a:r>
              <a:rPr lang="ko-KR" altLang="en-US" sz="1400" b="1" dirty="0"/>
              <a:t> </a:t>
            </a:r>
            <a:endParaRPr lang="en-US" altLang="ko-KR" sz="1400" b="1" dirty="0"/>
          </a:p>
          <a:p>
            <a:r>
              <a:rPr lang="en-US" altLang="ko-KR" sz="1400" dirty="0"/>
              <a:t>SlaveAgent.ee –port 8092</a:t>
            </a:r>
            <a:endParaRPr lang="ko-KR" alt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7FAAB9-58AD-8A4D-6373-D012863909CE}"/>
              </a:ext>
            </a:extLst>
          </p:cNvPr>
          <p:cNvSpPr txBox="1"/>
          <p:nvPr/>
        </p:nvSpPr>
        <p:spPr>
          <a:xfrm>
            <a:off x="123952" y="323165"/>
            <a:ext cx="3632201" cy="2893100"/>
          </a:xfrm>
          <a:prstGeom prst="rect">
            <a:avLst/>
          </a:prstGeom>
          <a:noFill/>
          <a:ln w="15875">
            <a:solidFill>
              <a:srgbClr val="0070C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ko-KR" sz="1400" b="1" i="1" dirty="0"/>
              <a:t>3. Master</a:t>
            </a:r>
            <a:r>
              <a:rPr lang="ko-KR" altLang="en-US" sz="1400" b="1" i="1" dirty="0"/>
              <a:t>프로세스 시작</a:t>
            </a:r>
            <a:endParaRPr lang="en-US" altLang="ko-KR" sz="1400" b="1" i="1" dirty="0"/>
          </a:p>
          <a:p>
            <a:r>
              <a:rPr lang="en-US" altLang="ko-KR" sz="1400" dirty="0"/>
              <a:t>curl -X POST http://192.168.1.100:8090/api/master/start</a:t>
            </a:r>
          </a:p>
          <a:p>
            <a:endParaRPr lang="en-US" altLang="ko-KR" sz="1400" dirty="0"/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응답 예시</a:t>
            </a:r>
            <a:endParaRPr lang="en-US" altLang="ko-KR" sz="1400" dirty="0"/>
          </a:p>
          <a:p>
            <a:r>
              <a:rPr lang="en-US" altLang="ko-KR" sz="1400" dirty="0">
                <a:highlight>
                  <a:srgbClr val="C0C0C0"/>
                </a:highlight>
              </a:rPr>
              <a:t>{</a:t>
            </a:r>
            <a:r>
              <a:rPr lang="ko-KR" altLang="en-US" sz="1400" dirty="0">
                <a:highlight>
                  <a:srgbClr val="C0C0C0"/>
                </a:highlight>
              </a:rPr>
              <a:t>  </a:t>
            </a:r>
            <a:endParaRPr lang="en-US" altLang="ko-KR" sz="1400" dirty="0">
              <a:highlight>
                <a:srgbClr val="C0C0C0"/>
              </a:highlight>
            </a:endParaRPr>
          </a:p>
          <a:p>
            <a:r>
              <a:rPr lang="en-US" altLang="ko-KR" sz="1400" dirty="0">
                <a:highlight>
                  <a:srgbClr val="C0C0C0"/>
                </a:highlight>
              </a:rPr>
              <a:t> "success": true, "message":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 "Master started",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"data": {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  "</a:t>
            </a:r>
            <a:r>
              <a:rPr lang="en-US" altLang="ko-KR" sz="1400" dirty="0" err="1">
                <a:highlight>
                  <a:srgbClr val="C0C0C0"/>
                </a:highlight>
              </a:rPr>
              <a:t>pid</a:t>
            </a:r>
            <a:r>
              <a:rPr lang="en-US" altLang="ko-KR" sz="1400" dirty="0">
                <a:highlight>
                  <a:srgbClr val="C0C0C0"/>
                </a:highlight>
              </a:rPr>
              <a:t>": 12345, "</a:t>
            </a:r>
            <a:r>
              <a:rPr lang="en-US" altLang="ko-KR" sz="1400" dirty="0" err="1">
                <a:highlight>
                  <a:srgbClr val="C0C0C0"/>
                </a:highlight>
              </a:rPr>
              <a:t>server_port</a:t>
            </a:r>
            <a:r>
              <a:rPr lang="en-US" altLang="ko-KR" sz="1400" dirty="0">
                <a:highlight>
                  <a:srgbClr val="C0C0C0"/>
                </a:highlight>
              </a:rPr>
              <a:t>": 8080,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  "</a:t>
            </a:r>
            <a:r>
              <a:rPr lang="en-US" altLang="ko-KR" sz="1400" dirty="0" err="1">
                <a:highlight>
                  <a:srgbClr val="C0C0C0"/>
                </a:highlight>
              </a:rPr>
              <a:t>api_port</a:t>
            </a:r>
            <a:r>
              <a:rPr lang="en-US" altLang="ko-KR" sz="1400" dirty="0">
                <a:highlight>
                  <a:srgbClr val="C0C0C0"/>
                </a:highlight>
              </a:rPr>
              <a:t>": 8081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 }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}</a:t>
            </a:r>
            <a:endParaRPr lang="ko-KR" altLang="en-US" sz="1400" dirty="0">
              <a:highlight>
                <a:srgbClr val="C0C0C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1A9F33-53CF-0CBB-9CAF-64B716162C59}"/>
              </a:ext>
            </a:extLst>
          </p:cNvPr>
          <p:cNvSpPr txBox="1"/>
          <p:nvPr/>
        </p:nvSpPr>
        <p:spPr>
          <a:xfrm>
            <a:off x="168629" y="3462394"/>
            <a:ext cx="4044724" cy="3539430"/>
          </a:xfrm>
          <a:prstGeom prst="rect">
            <a:avLst/>
          </a:prstGeom>
          <a:noFill/>
          <a:ln w="15875">
            <a:solidFill>
              <a:srgbClr val="0070C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ko-KR" sz="1400" b="1" i="1" dirty="0"/>
              <a:t>4. Slave</a:t>
            </a:r>
            <a:r>
              <a:rPr lang="ko-KR" altLang="en-US" sz="1400" b="1" i="1" dirty="0"/>
              <a:t> 시작</a:t>
            </a:r>
            <a:endParaRPr lang="en-US" altLang="ko-KR" sz="1400" b="1" i="1" dirty="0"/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등록된 모든 </a:t>
            </a:r>
            <a:r>
              <a:rPr lang="en-US" altLang="ko-KR" sz="1400" dirty="0"/>
              <a:t>Agent</a:t>
            </a:r>
            <a:r>
              <a:rPr lang="ko-KR" altLang="en-US" sz="1400" dirty="0"/>
              <a:t>에서 </a:t>
            </a:r>
            <a:r>
              <a:rPr lang="en-US" altLang="ko-KR" sz="1400" dirty="0"/>
              <a:t>Slave </a:t>
            </a:r>
            <a:r>
              <a:rPr lang="ko-KR" altLang="en-US" sz="1400" dirty="0"/>
              <a:t>시작</a:t>
            </a:r>
            <a:endParaRPr lang="en-US" altLang="ko-KR" sz="1400" dirty="0"/>
          </a:p>
          <a:p>
            <a:r>
              <a:rPr lang="en-US" altLang="ko-KR" sz="1400" dirty="0"/>
              <a:t>curl -X POST http://192.168.1.100:8081/api/agents/start-slaves \ -H "Content-Type: application/</a:t>
            </a:r>
            <a:r>
              <a:rPr lang="en-US" altLang="ko-KR" sz="1400" dirty="0" err="1"/>
              <a:t>json</a:t>
            </a:r>
            <a:r>
              <a:rPr lang="en-US" altLang="ko-KR" sz="1400" dirty="0"/>
              <a:t>" \ -d '{"threads": 1}’</a:t>
            </a:r>
          </a:p>
          <a:p>
            <a:endParaRPr lang="en-US" altLang="ko-KR" sz="1400" dirty="0"/>
          </a:p>
          <a:p>
            <a:r>
              <a:rPr lang="en-US" altLang="ko-KR" sz="1400" dirty="0"/>
              <a:t>curl -X POST http://192.168.1.100:8090/api/master/start</a:t>
            </a:r>
          </a:p>
          <a:p>
            <a:endParaRPr lang="en-US" altLang="ko-KR" sz="1400" dirty="0"/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응답 예시</a:t>
            </a:r>
            <a:endParaRPr lang="en-US" altLang="ko-KR" sz="1400" dirty="0"/>
          </a:p>
          <a:p>
            <a:r>
              <a:rPr lang="en-US" altLang="ko-KR" sz="1400" dirty="0">
                <a:highlight>
                  <a:srgbClr val="C0C0C0"/>
                </a:highlight>
              </a:rPr>
              <a:t>{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"success": true,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"message": "Start command sent to agents",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"data": { "</a:t>
            </a:r>
            <a:r>
              <a:rPr lang="en-US" altLang="ko-KR" sz="1400" dirty="0" err="1">
                <a:highlight>
                  <a:srgbClr val="C0C0C0"/>
                </a:highlight>
              </a:rPr>
              <a:t>started_count</a:t>
            </a:r>
            <a:r>
              <a:rPr lang="en-US" altLang="ko-KR" sz="1400" dirty="0">
                <a:highlight>
                  <a:srgbClr val="C0C0C0"/>
                </a:highlight>
              </a:rPr>
              <a:t>": 1 }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}</a:t>
            </a:r>
            <a:endParaRPr lang="ko-KR" altLang="en-US" sz="1400" dirty="0">
              <a:highlight>
                <a:srgbClr val="C0C0C0"/>
              </a:highlight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7BB35E-78F5-ADBE-277D-2252EF80DEE6}"/>
              </a:ext>
            </a:extLst>
          </p:cNvPr>
          <p:cNvSpPr txBox="1"/>
          <p:nvPr/>
        </p:nvSpPr>
        <p:spPr>
          <a:xfrm>
            <a:off x="4460716" y="3429000"/>
            <a:ext cx="4044724" cy="4185761"/>
          </a:xfrm>
          <a:prstGeom prst="rect">
            <a:avLst/>
          </a:prstGeom>
          <a:noFill/>
          <a:ln w="15875">
            <a:solidFill>
              <a:srgbClr val="0070C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ko-KR" sz="1400" b="1" i="1" dirty="0"/>
              <a:t>5. Task</a:t>
            </a:r>
            <a:r>
              <a:rPr lang="ko-KR" altLang="en-US" sz="1400" b="1" i="1" dirty="0"/>
              <a:t> 실행</a:t>
            </a:r>
            <a:endParaRPr lang="en-US" altLang="ko-KR" sz="1400" b="1" i="1" dirty="0"/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등록된 모든 </a:t>
            </a:r>
            <a:r>
              <a:rPr lang="en-US" altLang="ko-KR" sz="1400" dirty="0"/>
              <a:t>Agent</a:t>
            </a:r>
            <a:r>
              <a:rPr lang="ko-KR" altLang="en-US" sz="1400" dirty="0"/>
              <a:t>에서 </a:t>
            </a:r>
            <a:r>
              <a:rPr lang="en-US" altLang="ko-KR" sz="1400" dirty="0"/>
              <a:t>Slave </a:t>
            </a:r>
            <a:r>
              <a:rPr lang="ko-KR" altLang="en-US" sz="1400" dirty="0"/>
              <a:t>시작</a:t>
            </a:r>
            <a:endParaRPr lang="en-US" altLang="ko-KR" sz="1400" dirty="0"/>
          </a:p>
          <a:p>
            <a:r>
              <a:rPr lang="en-US" altLang="ko-KR" sz="1400" dirty="0"/>
              <a:t>curl -X POST http://192.168.1.100:8081/api/agents/start-slaves \ -H "Content-Type: application/</a:t>
            </a:r>
            <a:r>
              <a:rPr lang="en-US" altLang="ko-KR" sz="1400" dirty="0" err="1"/>
              <a:t>json</a:t>
            </a:r>
            <a:r>
              <a:rPr lang="en-US" altLang="ko-KR" sz="1400" dirty="0"/>
              <a:t>" \ -d '{"threads": 1}’</a:t>
            </a:r>
          </a:p>
          <a:p>
            <a:endParaRPr lang="en-US" altLang="ko-KR" sz="1400" dirty="0"/>
          </a:p>
          <a:p>
            <a:r>
              <a:rPr lang="en-US" altLang="ko-KR" sz="1400" dirty="0"/>
              <a:t>curl -X POST http://192.168.1.100:8081/api/files/load \ -H "Content-Type: application/</a:t>
            </a:r>
            <a:r>
              <a:rPr lang="en-US" altLang="ko-KR" sz="1400" dirty="0" err="1"/>
              <a:t>json</a:t>
            </a:r>
            <a:r>
              <a:rPr lang="en-US" altLang="ko-KR" sz="1400" dirty="0"/>
              <a:t>" \ -d '{ "filename": "D:/data/scan.xyz", "</a:t>
            </a:r>
            <a:r>
              <a:rPr lang="en-US" altLang="ko-KR" sz="1400" dirty="0" err="1"/>
              <a:t>task_type</a:t>
            </a:r>
            <a:r>
              <a:rPr lang="en-US" altLang="ko-KR" sz="1400" dirty="0"/>
              <a:t>": "</a:t>
            </a:r>
            <a:r>
              <a:rPr lang="en-US" altLang="ko-KR" sz="1400" dirty="0" err="1"/>
              <a:t>convert_pts</a:t>
            </a:r>
            <a:r>
              <a:rPr lang="en-US" altLang="ko-KR" sz="1400" dirty="0"/>
              <a:t>" }’</a:t>
            </a:r>
          </a:p>
          <a:p>
            <a:endParaRPr lang="en-US" altLang="ko-KR" sz="1400" dirty="0"/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응답 예시</a:t>
            </a:r>
            <a:endParaRPr lang="en-US" altLang="ko-KR" sz="1400" dirty="0"/>
          </a:p>
          <a:p>
            <a:r>
              <a:rPr lang="en-US" altLang="ko-KR" sz="1400" dirty="0">
                <a:highlight>
                  <a:srgbClr val="C0C0C0"/>
                </a:highlight>
              </a:rPr>
              <a:t>{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"success": true,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"message": "Start command sent to agents",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"data": { "</a:t>
            </a:r>
            <a:r>
              <a:rPr lang="en-US" altLang="ko-KR" sz="1400" dirty="0" err="1">
                <a:highlight>
                  <a:srgbClr val="C0C0C0"/>
                </a:highlight>
              </a:rPr>
              <a:t>started_count</a:t>
            </a:r>
            <a:r>
              <a:rPr lang="en-US" altLang="ko-KR" sz="1400" dirty="0">
                <a:highlight>
                  <a:srgbClr val="C0C0C0"/>
                </a:highlight>
              </a:rPr>
              <a:t>": 1 }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}</a:t>
            </a:r>
            <a:endParaRPr lang="ko-KR" altLang="en-US" sz="14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1226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BB4C8-498C-B685-1A3F-EE193C06A06B}"/>
              </a:ext>
            </a:extLst>
          </p:cNvPr>
          <p:cNvSpPr txBox="1"/>
          <p:nvPr/>
        </p:nvSpPr>
        <p:spPr>
          <a:xfrm>
            <a:off x="28914" y="86916"/>
            <a:ext cx="3971586" cy="3761184"/>
          </a:xfrm>
          <a:prstGeom prst="rect">
            <a:avLst/>
          </a:prstGeom>
          <a:noFill/>
          <a:ln w="15875">
            <a:solidFill>
              <a:srgbClr val="0070C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ko-KR" sz="1400" b="1" i="1" dirty="0"/>
              <a:t>6. </a:t>
            </a:r>
            <a:r>
              <a:rPr lang="ko-KR" altLang="en-US" sz="1400" b="1" i="1" dirty="0"/>
              <a:t>진행률 모니터링</a:t>
            </a:r>
            <a:endParaRPr lang="en-US" altLang="ko-KR" sz="1400" b="1" i="1" dirty="0"/>
          </a:p>
          <a:p>
            <a:endParaRPr lang="en-US" altLang="ko-KR" sz="1400" i="1" dirty="0"/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진행률 확인 </a:t>
            </a:r>
            <a:r>
              <a:rPr lang="en-US" altLang="ko-KR" sz="1400" dirty="0"/>
              <a:t>(</a:t>
            </a:r>
            <a:r>
              <a:rPr lang="ko-KR" altLang="en-US" sz="1400" dirty="0"/>
              <a:t>반복 호출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r>
              <a:rPr lang="en-US" altLang="ko-KR" sz="1400" dirty="0"/>
              <a:t>curl http://192.168.1.100:8081/api/progress </a:t>
            </a:r>
          </a:p>
          <a:p>
            <a:endParaRPr lang="en-US" altLang="ko-KR" sz="1400" dirty="0"/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응답 예시 </a:t>
            </a:r>
            <a:endParaRPr lang="en-US" altLang="ko-KR" sz="1400" dirty="0"/>
          </a:p>
          <a:p>
            <a:r>
              <a:rPr lang="en-US" altLang="ko-KR" sz="1400" dirty="0">
                <a:highlight>
                  <a:srgbClr val="C0C0C0"/>
                </a:highlight>
              </a:rPr>
              <a:t>{</a:t>
            </a:r>
            <a:r>
              <a:rPr lang="ko-KR" altLang="en-US" sz="1400" dirty="0">
                <a:highlight>
                  <a:srgbClr val="C0C0C0"/>
                </a:highlight>
              </a:rPr>
              <a:t> </a:t>
            </a:r>
            <a:endParaRPr lang="en-US" altLang="ko-KR" sz="1400" dirty="0">
              <a:highlight>
                <a:srgbClr val="C0C0C0"/>
              </a:highlight>
            </a:endParaRPr>
          </a:p>
          <a:p>
            <a:r>
              <a:rPr lang="en-US" altLang="ko-KR" sz="1400" dirty="0">
                <a:highlight>
                  <a:srgbClr val="C0C0C0"/>
                </a:highlight>
              </a:rPr>
              <a:t> "success": true,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"data": {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   "</a:t>
            </a:r>
            <a:r>
              <a:rPr lang="en-US" altLang="ko-KR" sz="1400" dirty="0" err="1">
                <a:highlight>
                  <a:srgbClr val="C0C0C0"/>
                </a:highlight>
              </a:rPr>
              <a:t>task_type</a:t>
            </a:r>
            <a:r>
              <a:rPr lang="en-US" altLang="ko-KR" sz="1400" dirty="0">
                <a:highlight>
                  <a:srgbClr val="C0C0C0"/>
                </a:highlight>
              </a:rPr>
              <a:t>": "</a:t>
            </a:r>
            <a:r>
              <a:rPr lang="en-US" altLang="ko-KR" sz="1400" dirty="0" err="1">
                <a:highlight>
                  <a:srgbClr val="C0C0C0"/>
                </a:highlight>
              </a:rPr>
              <a:t>convert_pts</a:t>
            </a:r>
            <a:r>
              <a:rPr lang="en-US" altLang="ko-KR" sz="1400" dirty="0">
                <a:highlight>
                  <a:srgbClr val="C0C0C0"/>
                </a:highlight>
              </a:rPr>
              <a:t>",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   "</a:t>
            </a:r>
            <a:r>
              <a:rPr lang="en-US" altLang="ko-KR" sz="1400" dirty="0" err="1">
                <a:highlight>
                  <a:srgbClr val="C0C0C0"/>
                </a:highlight>
              </a:rPr>
              <a:t>overall_progress</a:t>
            </a:r>
            <a:r>
              <a:rPr lang="en-US" altLang="ko-KR" sz="1400" dirty="0">
                <a:highlight>
                  <a:srgbClr val="C0C0C0"/>
                </a:highlight>
              </a:rPr>
              <a:t>": 45.50, 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   "</a:t>
            </a:r>
            <a:r>
              <a:rPr lang="en-US" altLang="ko-KR" sz="1400" dirty="0" err="1">
                <a:highlight>
                  <a:srgbClr val="C0C0C0"/>
                </a:highlight>
              </a:rPr>
              <a:t>pending_tasks</a:t>
            </a:r>
            <a:r>
              <a:rPr lang="en-US" altLang="ko-KR" sz="1400" dirty="0">
                <a:highlight>
                  <a:srgbClr val="C0C0C0"/>
                </a:highlight>
              </a:rPr>
              <a:t>": 5,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   "</a:t>
            </a:r>
            <a:r>
              <a:rPr lang="en-US" altLang="ko-KR" sz="1400" dirty="0" err="1">
                <a:highlight>
                  <a:srgbClr val="C0C0C0"/>
                </a:highlight>
              </a:rPr>
              <a:t>active_tasks</a:t>
            </a:r>
            <a:r>
              <a:rPr lang="en-US" altLang="ko-KR" sz="1400" dirty="0">
                <a:highlight>
                  <a:srgbClr val="C0C0C0"/>
                </a:highlight>
              </a:rPr>
              <a:t>": 2, 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   "</a:t>
            </a:r>
            <a:r>
              <a:rPr lang="en-US" altLang="ko-KR" sz="1400" dirty="0" err="1">
                <a:highlight>
                  <a:srgbClr val="C0C0C0"/>
                </a:highlight>
              </a:rPr>
              <a:t>completed_tasks</a:t>
            </a:r>
            <a:r>
              <a:rPr lang="en-US" altLang="ko-KR" sz="1400" dirty="0">
                <a:highlight>
                  <a:srgbClr val="C0C0C0"/>
                </a:highlight>
              </a:rPr>
              <a:t>": 10,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   "</a:t>
            </a:r>
            <a:r>
              <a:rPr lang="en-US" altLang="ko-KR" sz="1400" dirty="0" err="1">
                <a:highlight>
                  <a:srgbClr val="C0C0C0"/>
                </a:highlight>
              </a:rPr>
              <a:t>failed_tasks</a:t>
            </a:r>
            <a:r>
              <a:rPr lang="en-US" altLang="ko-KR" sz="1400" dirty="0">
                <a:highlight>
                  <a:srgbClr val="C0C0C0"/>
                </a:highlight>
              </a:rPr>
              <a:t>": 0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 }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}</a:t>
            </a:r>
            <a:endParaRPr lang="ko-KR" altLang="en-US" sz="1400" dirty="0">
              <a:highlight>
                <a:srgbClr val="C0C0C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02F57F-2082-8526-5D0D-B13465C89CB2}"/>
              </a:ext>
            </a:extLst>
          </p:cNvPr>
          <p:cNvSpPr txBox="1"/>
          <p:nvPr/>
        </p:nvSpPr>
        <p:spPr>
          <a:xfrm>
            <a:off x="4181814" y="86916"/>
            <a:ext cx="3828372" cy="6771084"/>
          </a:xfrm>
          <a:prstGeom prst="rect">
            <a:avLst/>
          </a:prstGeom>
          <a:noFill/>
          <a:ln w="15875">
            <a:solidFill>
              <a:srgbClr val="0070C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ko-KR" sz="1400" b="1" i="1" dirty="0"/>
              <a:t>7. </a:t>
            </a:r>
            <a:r>
              <a:rPr lang="ko-KR" altLang="en-US" sz="1400" b="1" i="1" dirty="0"/>
              <a:t>결과 확인 및 저장</a:t>
            </a:r>
            <a:endParaRPr lang="en-US" altLang="ko-KR" sz="1400" b="1" i="1" dirty="0"/>
          </a:p>
          <a:p>
            <a:endParaRPr lang="en-US" altLang="ko-KR" sz="1400" i="1" dirty="0"/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결과 요약 확인</a:t>
            </a:r>
            <a:endParaRPr lang="en-US" altLang="ko-KR" sz="1400" dirty="0"/>
          </a:p>
          <a:p>
            <a:r>
              <a:rPr lang="en-US" altLang="ko-KR" sz="1400" dirty="0"/>
              <a:t>curl http://192.168.1.100:8081/api/results </a:t>
            </a:r>
          </a:p>
          <a:p>
            <a:endParaRPr lang="en-US" altLang="ko-KR" sz="1400" dirty="0"/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응답 예시</a:t>
            </a:r>
            <a:endParaRPr lang="en-US" altLang="ko-KR" sz="1400" dirty="0"/>
          </a:p>
          <a:p>
            <a:r>
              <a:rPr lang="en-US" altLang="ko-KR" sz="1400" dirty="0">
                <a:highlight>
                  <a:srgbClr val="C0C0C0"/>
                </a:highlight>
              </a:rPr>
              <a:t>{</a:t>
            </a:r>
            <a:r>
              <a:rPr lang="ko-KR" altLang="en-US" sz="1400" dirty="0">
                <a:highlight>
                  <a:srgbClr val="C0C0C0"/>
                </a:highlight>
              </a:rPr>
              <a:t> </a:t>
            </a:r>
            <a:endParaRPr lang="en-US" altLang="ko-KR" sz="1400" dirty="0">
              <a:highlight>
                <a:srgbClr val="C0C0C0"/>
              </a:highlight>
            </a:endParaRPr>
          </a:p>
          <a:p>
            <a:r>
              <a:rPr lang="en-US" altLang="ko-KR" sz="1400" dirty="0">
                <a:highlight>
                  <a:srgbClr val="C0C0C0"/>
                </a:highlight>
              </a:rPr>
              <a:t> "success": true,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"data": {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   "</a:t>
            </a:r>
            <a:r>
              <a:rPr lang="en-US" altLang="ko-KR" sz="1400" dirty="0" err="1">
                <a:highlight>
                  <a:srgbClr val="C0C0C0"/>
                </a:highlight>
              </a:rPr>
              <a:t>task_type</a:t>
            </a:r>
            <a:r>
              <a:rPr lang="en-US" altLang="ko-KR" sz="1400" dirty="0">
                <a:highlight>
                  <a:srgbClr val="C0C0C0"/>
                </a:highlight>
              </a:rPr>
              <a:t>": "</a:t>
            </a:r>
            <a:r>
              <a:rPr lang="en-US" altLang="ko-KR" sz="1400" dirty="0" err="1">
                <a:highlight>
                  <a:srgbClr val="C0C0C0"/>
                </a:highlight>
              </a:rPr>
              <a:t>convert_pts</a:t>
            </a:r>
            <a:r>
              <a:rPr lang="en-US" altLang="ko-KR" sz="1400" dirty="0">
                <a:highlight>
                  <a:srgbClr val="C0C0C0"/>
                </a:highlight>
              </a:rPr>
              <a:t>",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   "</a:t>
            </a:r>
            <a:r>
              <a:rPr lang="en-US" altLang="ko-KR" sz="1400" dirty="0" err="1">
                <a:highlight>
                  <a:srgbClr val="C0C0C0"/>
                </a:highlight>
              </a:rPr>
              <a:t>completed_results</a:t>
            </a:r>
            <a:r>
              <a:rPr lang="en-US" altLang="ko-KR" sz="1400" dirty="0">
                <a:highlight>
                  <a:srgbClr val="C0C0C0"/>
                </a:highlight>
              </a:rPr>
              <a:t>": 17,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   "</a:t>
            </a:r>
            <a:r>
              <a:rPr lang="en-US" altLang="ko-KR" sz="1400" dirty="0" err="1">
                <a:highlight>
                  <a:srgbClr val="C0C0C0"/>
                </a:highlight>
              </a:rPr>
              <a:t>total_processed_points</a:t>
            </a:r>
            <a:r>
              <a:rPr lang="en-US" altLang="ko-KR" sz="1400" dirty="0">
                <a:highlight>
                  <a:srgbClr val="C0C0C0"/>
                </a:highlight>
              </a:rPr>
              <a:t>": 1500000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 }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}</a:t>
            </a:r>
          </a:p>
          <a:p>
            <a:endParaRPr lang="en-US" altLang="ko-KR" sz="1400" dirty="0">
              <a:highlight>
                <a:srgbClr val="C0C0C0"/>
              </a:highlight>
            </a:endParaRPr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결과 저장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curl -X POST http://192.168.1.100:8081/api/results/save \ -H "Content-Type: application/</a:t>
            </a:r>
            <a:r>
              <a:rPr lang="en-US" altLang="ko-KR" sz="1400" dirty="0" err="1"/>
              <a:t>json</a:t>
            </a:r>
            <a:r>
              <a:rPr lang="en-US" altLang="ko-KR" sz="1400" dirty="0"/>
              <a:t>" \ -d '{"filename": "D:/output/result.xyz"}’ </a:t>
            </a:r>
          </a:p>
          <a:p>
            <a:endParaRPr lang="en-US" altLang="ko-KR" sz="1400" dirty="0"/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응답 예시</a:t>
            </a:r>
            <a:endParaRPr lang="en-US" altLang="ko-KR" sz="1400" dirty="0"/>
          </a:p>
          <a:p>
            <a:r>
              <a:rPr lang="en-US" altLang="ko-KR" sz="1400" dirty="0">
                <a:highlight>
                  <a:srgbClr val="C0C0C0"/>
                </a:highlight>
              </a:rPr>
              <a:t>{</a:t>
            </a:r>
            <a:r>
              <a:rPr lang="ko-KR" altLang="en-US" sz="1400" dirty="0">
                <a:highlight>
                  <a:srgbClr val="C0C0C0"/>
                </a:highlight>
              </a:rPr>
              <a:t> </a:t>
            </a:r>
            <a:endParaRPr lang="en-US" altLang="ko-KR" sz="1400" dirty="0">
              <a:highlight>
                <a:srgbClr val="C0C0C0"/>
              </a:highlight>
            </a:endParaRPr>
          </a:p>
          <a:p>
            <a:r>
              <a:rPr lang="en-US" altLang="ko-KR" sz="1400" dirty="0">
                <a:highlight>
                  <a:srgbClr val="C0C0C0"/>
                </a:highlight>
              </a:rPr>
              <a:t>  “success＂: true,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 “message＂: ＂Results saved successfully＂,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 “data＂: {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    “filename＂: ＂D:/output/</a:t>
            </a:r>
            <a:r>
              <a:rPr lang="en-US" altLang="ko-KR" sz="1400" dirty="0" err="1">
                <a:highlight>
                  <a:srgbClr val="C0C0C0"/>
                </a:highlight>
              </a:rPr>
              <a:t>result.xyz</a:t>
            </a:r>
            <a:r>
              <a:rPr lang="en-US" altLang="ko-KR" sz="1400" dirty="0">
                <a:highlight>
                  <a:srgbClr val="C0C0C0"/>
                </a:highlight>
              </a:rPr>
              <a:t>＂,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    “</a:t>
            </a:r>
            <a:r>
              <a:rPr lang="en-US" altLang="ko-KR" sz="1400" dirty="0" err="1">
                <a:highlight>
                  <a:srgbClr val="C0C0C0"/>
                </a:highlight>
              </a:rPr>
              <a:t>total_points</a:t>
            </a:r>
            <a:r>
              <a:rPr lang="en-US" altLang="ko-KR" sz="1400" dirty="0">
                <a:highlight>
                  <a:srgbClr val="C0C0C0"/>
                </a:highlight>
              </a:rPr>
              <a:t>": 1500000 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  }</a:t>
            </a:r>
          </a:p>
          <a:p>
            <a:r>
              <a:rPr lang="en-US" altLang="ko-KR" sz="1400" dirty="0">
                <a:highlight>
                  <a:srgbClr val="C0C0C0"/>
                </a:highlight>
              </a:rPr>
              <a:t>}</a:t>
            </a:r>
            <a:endParaRPr lang="ko-KR" altLang="en-US" sz="1400" dirty="0">
              <a:highlight>
                <a:srgbClr val="C0C0C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B499E-9B5E-0424-FA4E-2BBBA309B7C7}"/>
              </a:ext>
            </a:extLst>
          </p:cNvPr>
          <p:cNvSpPr txBox="1"/>
          <p:nvPr/>
        </p:nvSpPr>
        <p:spPr>
          <a:xfrm>
            <a:off x="8109628" y="86916"/>
            <a:ext cx="3828372" cy="1815882"/>
          </a:xfrm>
          <a:prstGeom prst="rect">
            <a:avLst/>
          </a:prstGeom>
          <a:noFill/>
          <a:ln w="15875">
            <a:solidFill>
              <a:srgbClr val="0070C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ko-KR" sz="1400" b="1" i="1" dirty="0"/>
              <a:t>8. </a:t>
            </a:r>
            <a:r>
              <a:rPr lang="ko-KR" altLang="en-US" sz="1400" b="1" i="1" dirty="0"/>
              <a:t>완료 후 정리</a:t>
            </a:r>
            <a:endParaRPr lang="en-US" altLang="ko-KR" sz="1400" b="1" i="1" dirty="0"/>
          </a:p>
          <a:p>
            <a:endParaRPr lang="en-US" altLang="ko-KR" sz="1400" dirty="0"/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완료된 </a:t>
            </a:r>
            <a:r>
              <a:rPr lang="en-US" altLang="ko-KR" sz="1400" dirty="0"/>
              <a:t>Task </a:t>
            </a:r>
            <a:r>
              <a:rPr lang="ko-KR" altLang="en-US" sz="1400" dirty="0"/>
              <a:t>정리 </a:t>
            </a:r>
            <a:r>
              <a:rPr lang="en-US" altLang="ko-KR" sz="1400" dirty="0"/>
              <a:t>curl -X DELETE http://192.168.1.100:8081/api/tasks # Slave </a:t>
            </a:r>
            <a:r>
              <a:rPr lang="ko-KR" altLang="en-US" sz="1400" dirty="0"/>
              <a:t>중지 </a:t>
            </a:r>
            <a:r>
              <a:rPr lang="en-US" altLang="ko-KR" sz="1400" dirty="0"/>
              <a:t>curl -X POST http://192.168.1.100:8081/api/agents/stop-slaves # Master </a:t>
            </a:r>
            <a:r>
              <a:rPr lang="ko-KR" altLang="en-US" sz="1400" dirty="0"/>
              <a:t>중지 </a:t>
            </a:r>
            <a:r>
              <a:rPr lang="en-US" altLang="ko-KR" sz="1400" dirty="0"/>
              <a:t>curl -X POST http://192.168.1.100:8090/api/master/stop</a:t>
            </a:r>
          </a:p>
        </p:txBody>
      </p:sp>
    </p:spTree>
    <p:extLst>
      <p:ext uri="{BB962C8B-B14F-4D97-AF65-F5344CB8AC3E}">
        <p14:creationId xmlns:p14="http://schemas.microsoft.com/office/powerpoint/2010/main" val="2491469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81FCE8F-102D-DC75-B0EB-473A998AB63D}"/>
              </a:ext>
            </a:extLst>
          </p:cNvPr>
          <p:cNvSpPr txBox="1"/>
          <p:nvPr/>
        </p:nvSpPr>
        <p:spPr>
          <a:xfrm>
            <a:off x="1498600" y="659011"/>
            <a:ext cx="9194800" cy="5539978"/>
          </a:xfrm>
          <a:prstGeom prst="rect">
            <a:avLst/>
          </a:prstGeom>
          <a:solidFill>
            <a:schemeClr val="bg2"/>
          </a:solidFill>
          <a:ln w="15875">
            <a:solidFill>
              <a:srgbClr val="0070C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전체 </a:t>
            </a:r>
            <a:r>
              <a:rPr lang="en-US" altLang="ko-KR" sz="2000" b="1" dirty="0"/>
              <a:t>API </a:t>
            </a:r>
            <a:r>
              <a:rPr lang="ko-KR" altLang="en-US" sz="2000" b="1" dirty="0"/>
              <a:t>흐름도</a:t>
            </a:r>
            <a:endParaRPr lang="en-US" altLang="ko-KR" sz="2000" b="1" dirty="0"/>
          </a:p>
          <a:p>
            <a:endParaRPr lang="en-US" altLang="ko-KR" sz="1600" b="1" dirty="0"/>
          </a:p>
          <a:p>
            <a:r>
              <a:rPr lang="ko-KR" altLang="en-US" sz="1600" dirty="0"/>
              <a:t>사용자 </a:t>
            </a:r>
            <a:r>
              <a:rPr lang="en-US" altLang="ko-KR" sz="2000" dirty="0"/>
              <a:t>(</a:t>
            </a:r>
            <a:r>
              <a:rPr lang="ko-KR" altLang="en-US" sz="1600" dirty="0"/>
              <a:t>컴퓨터 </a:t>
            </a:r>
            <a:r>
              <a:rPr lang="en-US" altLang="ko-KR" sz="1600" dirty="0"/>
              <a:t>A</a:t>
            </a:r>
            <a:r>
              <a:rPr lang="en-US" altLang="ko-KR" sz="2000" dirty="0"/>
              <a:t>)</a:t>
            </a:r>
            <a:r>
              <a:rPr lang="en-US" altLang="ko-KR" sz="1600" dirty="0"/>
              <a:t> </a:t>
            </a:r>
          </a:p>
          <a:p>
            <a:r>
              <a:rPr lang="en-US" altLang="ko-KR" sz="1600" dirty="0"/>
              <a:t>   │ </a:t>
            </a:r>
          </a:p>
          <a:p>
            <a:r>
              <a:rPr lang="en-US" altLang="ko-KR" sz="1600" dirty="0"/>
              <a:t>   ├─► </a:t>
            </a:r>
            <a:r>
              <a:rPr lang="en-US" altLang="ko-KR" sz="2000" dirty="0"/>
              <a:t>[</a:t>
            </a:r>
            <a:r>
              <a:rPr lang="en-US" altLang="ko-KR" sz="1600" dirty="0"/>
              <a:t>POST</a:t>
            </a:r>
            <a:r>
              <a:rPr lang="en-US" altLang="ko-KR" sz="2000" dirty="0"/>
              <a:t>]</a:t>
            </a:r>
            <a:r>
              <a:rPr lang="en-US" altLang="ko-KR" sz="1600" dirty="0"/>
              <a:t> :8090/</a:t>
            </a:r>
            <a:r>
              <a:rPr lang="en-US" altLang="ko-KR" sz="1600" dirty="0" err="1"/>
              <a:t>api</a:t>
            </a:r>
            <a:r>
              <a:rPr lang="en-US" altLang="ko-KR" sz="1600" dirty="0"/>
              <a:t>/master/start ──► </a:t>
            </a:r>
            <a:r>
              <a:rPr lang="en-US" altLang="ko-KR" sz="1600" dirty="0" err="1"/>
              <a:t>LauncherService</a:t>
            </a:r>
            <a:r>
              <a:rPr lang="ko-KR" altLang="en-US" sz="1600" dirty="0"/>
              <a:t>가 </a:t>
            </a:r>
            <a:r>
              <a:rPr lang="en-US" altLang="ko-KR" sz="1600" dirty="0"/>
              <a:t>Master </a:t>
            </a:r>
            <a:r>
              <a:rPr lang="ko-KR" altLang="en-US" sz="1600" dirty="0"/>
              <a:t>시작 </a:t>
            </a:r>
            <a:endParaRPr lang="en-US" altLang="ko-KR" sz="1600" dirty="0"/>
          </a:p>
          <a:p>
            <a:r>
              <a:rPr lang="en-US" altLang="ko-KR" sz="1600" dirty="0"/>
              <a:t>   </a:t>
            </a:r>
            <a:r>
              <a:rPr lang="ko-KR" altLang="en-US" sz="1600" dirty="0"/>
              <a:t>│ </a:t>
            </a:r>
            <a:endParaRPr lang="en-US" altLang="ko-KR" sz="1600" dirty="0"/>
          </a:p>
          <a:p>
            <a:r>
              <a:rPr lang="en-US" altLang="ko-KR" sz="1600" dirty="0"/>
              <a:t>   </a:t>
            </a:r>
            <a:r>
              <a:rPr lang="ko-KR" altLang="en-US" sz="1600" dirty="0"/>
              <a:t>├─► </a:t>
            </a:r>
            <a:r>
              <a:rPr lang="en-US" altLang="ko-KR" sz="2000" dirty="0"/>
              <a:t>[</a:t>
            </a:r>
            <a:r>
              <a:rPr lang="en-US" altLang="ko-KR" sz="1600" dirty="0"/>
              <a:t>POST</a:t>
            </a:r>
            <a:r>
              <a:rPr lang="en-US" altLang="ko-KR" sz="2000" dirty="0"/>
              <a:t>]</a:t>
            </a:r>
            <a:r>
              <a:rPr lang="en-US" altLang="ko-KR" sz="1600" dirty="0"/>
              <a:t> :8081/</a:t>
            </a:r>
            <a:r>
              <a:rPr lang="en-US" altLang="ko-KR" sz="1600" dirty="0" err="1"/>
              <a:t>api</a:t>
            </a:r>
            <a:r>
              <a:rPr lang="en-US" altLang="ko-KR" sz="1600" dirty="0"/>
              <a:t>/agents/start-slaves ──► Master</a:t>
            </a:r>
            <a:r>
              <a:rPr lang="ko-KR" altLang="en-US" sz="1600" dirty="0"/>
              <a:t>가 </a:t>
            </a:r>
            <a:r>
              <a:rPr lang="en-US" altLang="ko-KR" sz="1600" dirty="0"/>
              <a:t>Agent</a:t>
            </a:r>
            <a:r>
              <a:rPr lang="ko-KR" altLang="en-US" sz="1600" dirty="0"/>
              <a:t>에 </a:t>
            </a:r>
            <a:r>
              <a:rPr lang="en-US" altLang="ko-KR" sz="1600" dirty="0"/>
              <a:t>Slave </a:t>
            </a:r>
            <a:r>
              <a:rPr lang="ko-KR" altLang="en-US" sz="1600" dirty="0"/>
              <a:t>시작 요청 </a:t>
            </a:r>
            <a:endParaRPr lang="en-US" altLang="ko-KR" sz="1600" dirty="0"/>
          </a:p>
          <a:p>
            <a:r>
              <a:rPr lang="en-US" altLang="ko-KR" sz="1600" dirty="0"/>
              <a:t>   </a:t>
            </a:r>
            <a:r>
              <a:rPr lang="ko-KR" altLang="en-US" sz="1600" dirty="0"/>
              <a:t>│                                                               └──► </a:t>
            </a:r>
            <a:r>
              <a:rPr lang="en-US" altLang="ko-KR" sz="1600" dirty="0"/>
              <a:t>Agent</a:t>
            </a:r>
            <a:r>
              <a:rPr lang="ko-KR" altLang="en-US" sz="1600" dirty="0"/>
              <a:t>가 </a:t>
            </a:r>
            <a:r>
              <a:rPr lang="en-US" altLang="ko-KR" sz="1600" dirty="0"/>
              <a:t>Slave </a:t>
            </a:r>
            <a:r>
              <a:rPr lang="ko-KR" altLang="en-US" sz="1600" dirty="0"/>
              <a:t>프로세스 생성 </a:t>
            </a:r>
            <a:endParaRPr lang="en-US" altLang="ko-KR" sz="1600" dirty="0"/>
          </a:p>
          <a:p>
            <a:r>
              <a:rPr lang="en-US" altLang="ko-KR" sz="1600" dirty="0"/>
              <a:t>   </a:t>
            </a:r>
            <a:r>
              <a:rPr lang="ko-KR" altLang="en-US" sz="1600" dirty="0"/>
              <a:t>│                                                                          └──► </a:t>
            </a:r>
            <a:r>
              <a:rPr lang="en-US" altLang="ko-KR" sz="1600" dirty="0"/>
              <a:t>Slave</a:t>
            </a:r>
            <a:r>
              <a:rPr lang="ko-KR" altLang="en-US" sz="1600" dirty="0"/>
              <a:t>가 </a:t>
            </a:r>
            <a:r>
              <a:rPr lang="en-US" altLang="ko-KR" sz="1600" dirty="0"/>
              <a:t>Master</a:t>
            </a:r>
            <a:r>
              <a:rPr lang="ko-KR" altLang="en-US" sz="1600" dirty="0"/>
              <a:t>에 연결 </a:t>
            </a:r>
            <a:endParaRPr lang="en-US" altLang="ko-KR" sz="1600" dirty="0"/>
          </a:p>
          <a:p>
            <a:r>
              <a:rPr lang="en-US" altLang="ko-KR" sz="1600" dirty="0"/>
              <a:t>   </a:t>
            </a:r>
            <a:r>
              <a:rPr lang="ko-KR" altLang="en-US" sz="1600" dirty="0"/>
              <a:t>│ </a:t>
            </a:r>
            <a:endParaRPr lang="en-US" altLang="ko-KR" sz="1600" dirty="0"/>
          </a:p>
          <a:p>
            <a:r>
              <a:rPr lang="en-US" altLang="ko-KR" sz="1600" dirty="0"/>
              <a:t>   </a:t>
            </a:r>
            <a:r>
              <a:rPr lang="ko-KR" altLang="en-US" sz="1600" dirty="0"/>
              <a:t>├─► </a:t>
            </a:r>
            <a:r>
              <a:rPr lang="en-US" altLang="ko-KR" sz="2000" dirty="0"/>
              <a:t>[</a:t>
            </a:r>
            <a:r>
              <a:rPr lang="en-US" altLang="ko-KR" sz="1600" dirty="0"/>
              <a:t>POST</a:t>
            </a:r>
            <a:r>
              <a:rPr lang="en-US" altLang="ko-KR" sz="2000" dirty="0"/>
              <a:t>]</a:t>
            </a:r>
            <a:r>
              <a:rPr lang="en-US" altLang="ko-KR" sz="1600" dirty="0"/>
              <a:t> :8081/</a:t>
            </a:r>
            <a:r>
              <a:rPr lang="en-US" altLang="ko-KR" sz="1600" dirty="0" err="1"/>
              <a:t>api</a:t>
            </a:r>
            <a:r>
              <a:rPr lang="en-US" altLang="ko-KR" sz="1600" dirty="0"/>
              <a:t>/files/load ──► Master</a:t>
            </a:r>
            <a:r>
              <a:rPr lang="ko-KR" altLang="en-US" sz="1600" dirty="0"/>
              <a:t>가 </a:t>
            </a:r>
            <a:r>
              <a:rPr lang="en-US" altLang="ko-KR" sz="1600" dirty="0"/>
              <a:t>Task </a:t>
            </a:r>
            <a:r>
              <a:rPr lang="ko-KR" altLang="en-US" sz="1600" dirty="0"/>
              <a:t>생성 및 분배 </a:t>
            </a:r>
            <a:endParaRPr lang="en-US" altLang="ko-KR" sz="1600" dirty="0"/>
          </a:p>
          <a:p>
            <a:r>
              <a:rPr lang="en-US" altLang="ko-KR" sz="1600" dirty="0"/>
              <a:t>   </a:t>
            </a:r>
            <a:r>
              <a:rPr lang="ko-KR" altLang="en-US" sz="1600" dirty="0"/>
              <a:t>│                                                   └──► </a:t>
            </a:r>
            <a:r>
              <a:rPr lang="en-US" altLang="ko-KR" sz="1600" dirty="0"/>
              <a:t>Slave</a:t>
            </a:r>
            <a:r>
              <a:rPr lang="ko-KR" altLang="en-US" sz="1600" dirty="0"/>
              <a:t>들이 </a:t>
            </a:r>
            <a:r>
              <a:rPr lang="en-US" altLang="ko-KR" sz="1600" dirty="0"/>
              <a:t>Task </a:t>
            </a:r>
            <a:r>
              <a:rPr lang="ko-KR" altLang="en-US" sz="1600" dirty="0"/>
              <a:t>수행 </a:t>
            </a:r>
            <a:endParaRPr lang="en-US" altLang="ko-KR" sz="1600" dirty="0"/>
          </a:p>
          <a:p>
            <a:r>
              <a:rPr lang="en-US" altLang="ko-KR" sz="1600" dirty="0"/>
              <a:t>   </a:t>
            </a:r>
            <a:r>
              <a:rPr lang="ko-KR" altLang="en-US" sz="1600" dirty="0"/>
              <a:t>│ </a:t>
            </a:r>
            <a:endParaRPr lang="en-US" altLang="ko-KR" sz="1600" dirty="0"/>
          </a:p>
          <a:p>
            <a:r>
              <a:rPr lang="en-US" altLang="ko-KR" sz="1600" dirty="0"/>
              <a:t>   </a:t>
            </a:r>
            <a:r>
              <a:rPr lang="ko-KR" altLang="en-US" sz="1600" dirty="0"/>
              <a:t>├─► </a:t>
            </a:r>
            <a:r>
              <a:rPr lang="en-US" altLang="ko-KR" sz="2000" dirty="0"/>
              <a:t>[</a:t>
            </a:r>
            <a:r>
              <a:rPr lang="en-US" altLang="ko-KR" sz="1600" dirty="0"/>
              <a:t>GET</a:t>
            </a:r>
            <a:r>
              <a:rPr lang="en-US" altLang="ko-KR" sz="2000" dirty="0"/>
              <a:t>]</a:t>
            </a:r>
            <a:r>
              <a:rPr lang="en-US" altLang="ko-KR" sz="1600" dirty="0"/>
              <a:t> :8081/</a:t>
            </a:r>
            <a:r>
              <a:rPr lang="en-US" altLang="ko-KR" sz="1600" dirty="0" err="1"/>
              <a:t>api</a:t>
            </a:r>
            <a:r>
              <a:rPr lang="en-US" altLang="ko-KR" sz="1600" dirty="0"/>
              <a:t>/progress ──► </a:t>
            </a:r>
            <a:r>
              <a:rPr lang="ko-KR" altLang="en-US" sz="1600" dirty="0"/>
              <a:t>진행률 확인 </a:t>
            </a:r>
            <a:r>
              <a:rPr lang="en-US" altLang="ko-KR" sz="2000" dirty="0"/>
              <a:t>(</a:t>
            </a:r>
            <a:r>
              <a:rPr lang="ko-KR" altLang="en-US" sz="1600" dirty="0"/>
              <a:t>반복</a:t>
            </a:r>
            <a:r>
              <a:rPr lang="en-US" altLang="ko-KR" sz="2000" dirty="0"/>
              <a:t>)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   </a:t>
            </a:r>
            <a:r>
              <a:rPr lang="ko-KR" altLang="en-US" sz="1600" dirty="0"/>
              <a:t>│ </a:t>
            </a:r>
            <a:endParaRPr lang="en-US" altLang="ko-KR" sz="1600" dirty="0"/>
          </a:p>
          <a:p>
            <a:r>
              <a:rPr lang="en-US" altLang="ko-KR" sz="1600" dirty="0"/>
              <a:t>   </a:t>
            </a:r>
            <a:r>
              <a:rPr lang="ko-KR" altLang="en-US" sz="1600" dirty="0"/>
              <a:t>├─► </a:t>
            </a:r>
            <a:r>
              <a:rPr lang="en-US" altLang="ko-KR" sz="2000" dirty="0"/>
              <a:t>[</a:t>
            </a:r>
            <a:r>
              <a:rPr lang="en-US" altLang="ko-KR" sz="1600" dirty="0"/>
              <a:t>GET</a:t>
            </a:r>
            <a:r>
              <a:rPr lang="en-US" altLang="ko-KR" sz="2000" dirty="0"/>
              <a:t>]</a:t>
            </a:r>
            <a:r>
              <a:rPr lang="en-US" altLang="ko-KR" sz="1600" dirty="0"/>
              <a:t> :8081/</a:t>
            </a:r>
            <a:r>
              <a:rPr lang="en-US" altLang="ko-KR" sz="1600" dirty="0" err="1"/>
              <a:t>api</a:t>
            </a:r>
            <a:r>
              <a:rPr lang="en-US" altLang="ko-KR" sz="1600" dirty="0"/>
              <a:t>/results ──► </a:t>
            </a:r>
            <a:r>
              <a:rPr lang="ko-KR" altLang="en-US" sz="1600" dirty="0"/>
              <a:t>결과 요약 확인 </a:t>
            </a:r>
            <a:endParaRPr lang="en-US" altLang="ko-KR" sz="1600" dirty="0"/>
          </a:p>
          <a:p>
            <a:r>
              <a:rPr lang="en-US" altLang="ko-KR" sz="1600" dirty="0"/>
              <a:t>   </a:t>
            </a:r>
            <a:r>
              <a:rPr lang="ko-KR" altLang="en-US" sz="1600" dirty="0"/>
              <a:t>│ </a:t>
            </a:r>
            <a:endParaRPr lang="en-US" altLang="ko-KR" sz="1600" dirty="0"/>
          </a:p>
          <a:p>
            <a:r>
              <a:rPr lang="en-US" altLang="ko-KR" sz="1600" dirty="0"/>
              <a:t>   </a:t>
            </a:r>
            <a:r>
              <a:rPr lang="ko-KR" altLang="en-US" sz="1600" dirty="0"/>
              <a:t>├─► </a:t>
            </a:r>
            <a:r>
              <a:rPr lang="en-US" altLang="ko-KR" sz="2000" dirty="0"/>
              <a:t>[</a:t>
            </a:r>
            <a:r>
              <a:rPr lang="en-US" altLang="ko-KR" sz="1600" dirty="0"/>
              <a:t>POST</a:t>
            </a:r>
            <a:r>
              <a:rPr lang="en-US" altLang="ko-KR" sz="2000" dirty="0"/>
              <a:t>]</a:t>
            </a:r>
            <a:r>
              <a:rPr lang="en-US" altLang="ko-KR" sz="1600" dirty="0"/>
              <a:t> :8081/</a:t>
            </a:r>
            <a:r>
              <a:rPr lang="en-US" altLang="ko-KR" sz="1600" dirty="0" err="1"/>
              <a:t>api</a:t>
            </a:r>
            <a:r>
              <a:rPr lang="en-US" altLang="ko-KR" sz="1600" dirty="0"/>
              <a:t>/results/save ──► </a:t>
            </a:r>
            <a:r>
              <a:rPr lang="ko-KR" altLang="en-US" sz="1600" dirty="0"/>
              <a:t>결과 파일 저장 </a:t>
            </a:r>
            <a:r>
              <a:rPr lang="en-US" altLang="ko-KR" sz="2000" dirty="0"/>
              <a:t>(</a:t>
            </a:r>
            <a:r>
              <a:rPr lang="ko-KR" altLang="en-US" sz="1600" dirty="0"/>
              <a:t>컴퓨터 </a:t>
            </a:r>
            <a:r>
              <a:rPr lang="en-US" altLang="ko-KR" sz="1600" dirty="0"/>
              <a:t>B</a:t>
            </a:r>
            <a:r>
              <a:rPr lang="en-US" altLang="ko-KR" sz="2000" dirty="0"/>
              <a:t>)</a:t>
            </a:r>
            <a:r>
              <a:rPr lang="en-US" altLang="ko-KR" sz="1600" dirty="0"/>
              <a:t> </a:t>
            </a:r>
          </a:p>
          <a:p>
            <a:r>
              <a:rPr lang="en-US" altLang="ko-KR" sz="1600" dirty="0"/>
              <a:t>   │ </a:t>
            </a:r>
          </a:p>
          <a:p>
            <a:r>
              <a:rPr lang="en-US" altLang="ko-KR" sz="1600" dirty="0"/>
              <a:t>   └─► </a:t>
            </a:r>
            <a:r>
              <a:rPr lang="en-US" altLang="ko-KR" sz="2000" dirty="0"/>
              <a:t>[</a:t>
            </a:r>
            <a:r>
              <a:rPr lang="en-US" altLang="ko-KR" sz="1600" dirty="0"/>
              <a:t>POST</a:t>
            </a:r>
            <a:r>
              <a:rPr lang="en-US" altLang="ko-KR" sz="2000" dirty="0"/>
              <a:t>]</a:t>
            </a:r>
            <a:r>
              <a:rPr lang="en-US" altLang="ko-KR" sz="1600" dirty="0"/>
              <a:t> :8090/</a:t>
            </a:r>
            <a:r>
              <a:rPr lang="en-US" altLang="ko-KR" sz="1600" dirty="0" err="1"/>
              <a:t>api</a:t>
            </a:r>
            <a:r>
              <a:rPr lang="en-US" altLang="ko-KR" sz="1600" dirty="0"/>
              <a:t>/master/stop ──► </a:t>
            </a:r>
            <a:r>
              <a:rPr lang="ko-KR" altLang="en-US" sz="1600" dirty="0"/>
              <a:t>시스템 종료</a:t>
            </a:r>
            <a:endParaRPr lang="ko-KR" altLang="en-US" sz="16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23556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86B34516-1000-B75E-913A-F181A748D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230519"/>
            <a:ext cx="10896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1. 현재 REST API 지원 상태 분석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제공해주신 파일(</a:t>
            </a:r>
            <a:r>
              <a:rPr kumimoji="0" lang="ko-KR" altLang="ko-KR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Google Sans Text"/>
              </a:rPr>
              <a:t>MasterApplication_REST.cpp</a:t>
            </a: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, </a:t>
            </a:r>
            <a:r>
              <a:rPr kumimoji="0" lang="ko-KR" altLang="ko-KR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Google Sans Text"/>
              </a:rPr>
              <a:t>LauncherService.cpp</a:t>
            </a: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, </a:t>
            </a:r>
            <a:r>
              <a:rPr kumimoji="0" lang="ko-KR" altLang="ko-KR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Google Sans Text"/>
              </a:rPr>
              <a:t>agent.cpp</a:t>
            </a:r>
            <a:r>
              <a: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)을 기반으로 분석한 결과입니다.</a:t>
            </a:r>
            <a:endParaRPr kumimoji="0" lang="ko-KR" altLang="ko-KR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B52CD11-10A4-427C-D644-ACB2A4176C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799454"/>
              </p:ext>
            </p:extLst>
          </p:nvPr>
        </p:nvGraphicFramePr>
        <p:xfrm>
          <a:off x="304800" y="1280115"/>
          <a:ext cx="11582400" cy="498948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66850">
                  <a:extLst>
                    <a:ext uri="{9D8B030D-6E8A-4147-A177-3AD203B41FA5}">
                      <a16:colId xmlns:a16="http://schemas.microsoft.com/office/drawing/2014/main" val="172504071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726992929"/>
                    </a:ext>
                  </a:extLst>
                </a:gridCol>
                <a:gridCol w="5111750">
                  <a:extLst>
                    <a:ext uri="{9D8B030D-6E8A-4147-A177-3AD203B41FA5}">
                      <a16:colId xmlns:a16="http://schemas.microsoft.com/office/drawing/2014/main" val="4049726381"/>
                    </a:ext>
                  </a:extLst>
                </a:gridCol>
                <a:gridCol w="3022600">
                  <a:extLst>
                    <a:ext uri="{9D8B030D-6E8A-4147-A177-3AD203B41FA5}">
                      <a16:colId xmlns:a16="http://schemas.microsoft.com/office/drawing/2014/main" val="1817513169"/>
                    </a:ext>
                  </a:extLst>
                </a:gridCol>
              </a:tblGrid>
              <a:tr h="80413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2000" b="1" kern="1200" dirty="0">
                          <a:solidFill>
                            <a:srgbClr val="1F1F1F"/>
                          </a:solidFill>
                          <a:effectLst/>
                        </a:rPr>
                        <a:t>기능 영역</a:t>
                      </a:r>
                      <a:endParaRPr lang="ko-KR" altLang="en-US" sz="2000" b="1" kern="1200" dirty="0">
                        <a:solidFill>
                          <a:srgbClr val="1F1F1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62" marR="44462" marT="29641" marB="29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2000" b="1" kern="1200" dirty="0">
                          <a:solidFill>
                            <a:srgbClr val="1F1F1F"/>
                          </a:solidFill>
                          <a:effectLst/>
                        </a:rPr>
                        <a:t>현재 상태</a:t>
                      </a:r>
                      <a:endParaRPr lang="ko-KR" altLang="en-US" sz="2000" b="1" kern="1200" dirty="0">
                        <a:solidFill>
                          <a:srgbClr val="1F1F1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62" marR="44462" marT="29641" marB="29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2000" b="1" kern="1200" dirty="0">
                          <a:solidFill>
                            <a:srgbClr val="1F1F1F"/>
                          </a:solidFill>
                          <a:effectLst/>
                        </a:rPr>
                        <a:t>상세 내용</a:t>
                      </a:r>
                      <a:endParaRPr lang="ko-KR" altLang="en-US" sz="2000" b="1" kern="1200" dirty="0">
                        <a:solidFill>
                          <a:srgbClr val="1F1F1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62" marR="44462" marT="29641" marB="29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2000" b="1" kern="1200" dirty="0">
                          <a:solidFill>
                            <a:srgbClr val="1F1F1F"/>
                          </a:solidFill>
                          <a:effectLst/>
                        </a:rPr>
                        <a:t>평가</a:t>
                      </a:r>
                      <a:endParaRPr lang="ko-KR" altLang="en-US" sz="2000" b="1" kern="1200" dirty="0">
                        <a:solidFill>
                          <a:srgbClr val="1F1F1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62" marR="44462" marT="29641" marB="29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8014469"/>
                  </a:ext>
                </a:extLst>
              </a:tr>
              <a:tr h="112636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시스템 제어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462" marR="44462" marT="29641" marB="29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✅ </a:t>
                      </a: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지원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462" marR="44462" marT="29641" marB="29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• Master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실행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중지 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444746"/>
                          </a:solidFill>
                          <a:effectLst/>
                        </a:rPr>
                        <a:t>LauncherService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</a:p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• Slave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실행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중지 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-US" sz="1600" dirty="0">
                          <a:solidFill>
                            <a:srgbClr val="444746"/>
                          </a:solidFill>
                          <a:effectLst/>
                        </a:rPr>
                        <a:t>Agent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</a:p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• Slave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전체 일시정지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재개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462" marR="44462" marT="29641" marB="29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원격에서 인프라를 켜고 끄는 기능은 완벽합니다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alt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462" marR="44462" marT="29641" marB="29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05015"/>
                  </a:ext>
                </a:extLst>
              </a:tr>
              <a:tr h="112636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모니터링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462" marR="44462" marT="29641" marB="29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✅ </a:t>
                      </a: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지원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462" marR="44462" marT="29641" marB="29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•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전체 진행률 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-US" altLang="ko-KR" sz="1600" dirty="0">
                          <a:solidFill>
                            <a:srgbClr val="444746"/>
                          </a:solidFill>
                          <a:effectLst/>
                        </a:rPr>
                        <a:t>/</a:t>
                      </a:r>
                      <a:r>
                        <a:rPr lang="en-US" altLang="ko-KR" sz="1600" dirty="0" err="1">
                          <a:solidFill>
                            <a:srgbClr val="444746"/>
                          </a:solidFill>
                          <a:effectLst/>
                        </a:rPr>
                        <a:t>api</a:t>
                      </a:r>
                      <a:r>
                        <a:rPr lang="en-US" altLang="ko-KR" sz="1600" dirty="0">
                          <a:solidFill>
                            <a:srgbClr val="444746"/>
                          </a:solidFill>
                          <a:effectLst/>
                        </a:rPr>
                        <a:t>/progress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</a:p>
                    <a:p>
                      <a:pPr rtl="0">
                        <a:buNone/>
                      </a:pP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•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연결된 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Slave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목록 및 상태 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-US" altLang="ko-KR" sz="1600" dirty="0">
                          <a:solidFill>
                            <a:srgbClr val="444746"/>
                          </a:solidFill>
                          <a:effectLst/>
                        </a:rPr>
                        <a:t>/</a:t>
                      </a:r>
                      <a:r>
                        <a:rPr lang="en-US" altLang="ko-KR" sz="1600" dirty="0" err="1">
                          <a:solidFill>
                            <a:srgbClr val="444746"/>
                          </a:solidFill>
                          <a:effectLst/>
                        </a:rPr>
                        <a:t>api</a:t>
                      </a:r>
                      <a:r>
                        <a:rPr lang="en-US" altLang="ko-KR" sz="1600" dirty="0">
                          <a:solidFill>
                            <a:srgbClr val="444746"/>
                          </a:solidFill>
                          <a:effectLst/>
                        </a:rPr>
                        <a:t>/slaves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</a:p>
                    <a:p>
                      <a:pPr rtl="0">
                        <a:buNone/>
                      </a:pP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•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작업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(Task)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상태 조회 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-US" altLang="ko-KR" sz="1600" dirty="0">
                          <a:solidFill>
                            <a:srgbClr val="444746"/>
                          </a:solidFill>
                          <a:effectLst/>
                        </a:rPr>
                        <a:t>/</a:t>
                      </a:r>
                      <a:r>
                        <a:rPr lang="en-US" altLang="ko-KR" sz="1600" dirty="0" err="1">
                          <a:solidFill>
                            <a:srgbClr val="444746"/>
                          </a:solidFill>
                          <a:effectLst/>
                        </a:rPr>
                        <a:t>api</a:t>
                      </a:r>
                      <a:r>
                        <a:rPr lang="en-US" altLang="ko-KR" sz="1600" dirty="0">
                          <a:solidFill>
                            <a:srgbClr val="444746"/>
                          </a:solidFill>
                          <a:effectLst/>
                        </a:rPr>
                        <a:t>/tasks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endParaRPr lang="en-US" alt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462" marR="44462" marT="29641" marB="29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작업이 얼마나 진행되었는지 확인 가능합니다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alt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462" marR="44462" marT="29641" marB="29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146851"/>
                  </a:ext>
                </a:extLst>
              </a:tr>
              <a:tr h="91295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작업 요청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462" marR="44462" marT="29641" marB="29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⚠️ </a:t>
                      </a: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부분 지원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462" marR="44462" marT="29641" marB="29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•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작업 시작 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-US" altLang="ko-KR" sz="1600" dirty="0">
                          <a:solidFill>
                            <a:srgbClr val="444746"/>
                          </a:solidFill>
                          <a:effectLst/>
                        </a:rPr>
                        <a:t>/</a:t>
                      </a:r>
                      <a:r>
                        <a:rPr lang="en-US" altLang="ko-KR" sz="1600" dirty="0" err="1">
                          <a:solidFill>
                            <a:srgbClr val="444746"/>
                          </a:solidFill>
                          <a:effectLst/>
                        </a:rPr>
                        <a:t>api</a:t>
                      </a:r>
                      <a:r>
                        <a:rPr lang="en-US" altLang="ko-KR" sz="1600" dirty="0">
                          <a:solidFill>
                            <a:srgbClr val="444746"/>
                          </a:solidFill>
                          <a:effectLst/>
                        </a:rPr>
                        <a:t>/files/load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이 가능하지만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,</a:t>
                      </a:r>
                    </a:p>
                    <a:p>
                      <a:pPr rtl="0">
                        <a:buNone/>
                      </a:pPr>
                      <a:r>
                        <a:rPr lang="en-US" altLang="ko-KR" sz="1600" b="1" dirty="0">
                          <a:solidFill>
                            <a:srgbClr val="1F1F1F"/>
                          </a:solidFill>
                          <a:effectLst/>
                        </a:rPr>
                        <a:t>Master </a:t>
                      </a: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컴퓨터에 이미 존재하는 파일 경로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를 인자로 받습니다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alt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462" marR="44462" marT="29641" marB="29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원격 클라이언트가 자신이 가진 파일을 처리할 수 없습니다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alt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462" marR="44462" marT="29641" marB="29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2864530"/>
                  </a:ext>
                </a:extLst>
              </a:tr>
              <a:tr h="101965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결과 수신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462" marR="44462" marT="29641" marB="29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❌ </a:t>
                      </a: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미지원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462" marR="44462" marT="29641" marB="29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•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결과 개수 조회 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-US" altLang="ko-KR" sz="1600" dirty="0">
                          <a:solidFill>
                            <a:srgbClr val="444746"/>
                          </a:solidFill>
                          <a:effectLst/>
                        </a:rPr>
                        <a:t>/</a:t>
                      </a:r>
                      <a:r>
                        <a:rPr lang="en-US" altLang="ko-KR" sz="1600" dirty="0" err="1">
                          <a:solidFill>
                            <a:srgbClr val="444746"/>
                          </a:solidFill>
                          <a:effectLst/>
                        </a:rPr>
                        <a:t>api</a:t>
                      </a:r>
                      <a:r>
                        <a:rPr lang="en-US" altLang="ko-KR" sz="1600" dirty="0">
                          <a:solidFill>
                            <a:srgbClr val="444746"/>
                          </a:solidFill>
                          <a:effectLst/>
                        </a:rPr>
                        <a:t>/results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만 가능합니다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</a:p>
                    <a:p>
                      <a:pPr rtl="0">
                        <a:buNone/>
                      </a:pP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•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결과 저장 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-US" altLang="ko-KR" sz="1600" dirty="0">
                          <a:solidFill>
                            <a:srgbClr val="444746"/>
                          </a:solidFill>
                          <a:effectLst/>
                        </a:rPr>
                        <a:t>/</a:t>
                      </a:r>
                      <a:r>
                        <a:rPr lang="en-US" altLang="ko-KR" sz="1600" dirty="0" err="1">
                          <a:solidFill>
                            <a:srgbClr val="444746"/>
                          </a:solidFill>
                          <a:effectLst/>
                        </a:rPr>
                        <a:t>api</a:t>
                      </a:r>
                      <a:r>
                        <a:rPr lang="en-US" altLang="ko-KR" sz="1600" dirty="0">
                          <a:solidFill>
                            <a:srgbClr val="444746"/>
                          </a:solidFill>
                          <a:effectLst/>
                        </a:rPr>
                        <a:t>/results/save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은 </a:t>
                      </a:r>
                      <a:r>
                        <a:rPr lang="en-US" altLang="ko-KR" sz="1600" b="1" dirty="0">
                          <a:solidFill>
                            <a:srgbClr val="1F1F1F"/>
                          </a:solidFill>
                          <a:effectLst/>
                        </a:rPr>
                        <a:t>Master </a:t>
                      </a: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컴퓨터의 로컬 디스크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에 저장합니다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alt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462" marR="44462" marT="29641" marB="29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원격 클라이언트가 처리된 결과물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파일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을 다운로드할 수 없습니다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alt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462" marR="44462" marT="29641" marB="29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528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2827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19013</TotalTime>
  <Words>983</Words>
  <Application>Microsoft Office PowerPoint</Application>
  <PresentationFormat>와이드스크린</PresentationFormat>
  <Paragraphs>147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Arial Unicode MS</vt:lpstr>
      <vt:lpstr>Google Sans Text</vt:lpstr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kiin bang</dc:creator>
  <cp:lastModifiedBy>kiin bang</cp:lastModifiedBy>
  <cp:revision>3</cp:revision>
  <dcterms:created xsi:type="dcterms:W3CDTF">2025-12-23T03:55:32Z</dcterms:created>
  <dcterms:modified xsi:type="dcterms:W3CDTF">2026-01-05T09:54:02Z</dcterms:modified>
</cp:coreProperties>
</file>